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3"/>
    <p:sldId id="258" r:id="rId4"/>
    <p:sldId id="259" r:id="rId5"/>
    <p:sldId id="262" r:id="rId6"/>
    <p:sldId id="263" r:id="rId8"/>
    <p:sldId id="264" r:id="rId9"/>
    <p:sldId id="276" r:id="rId10"/>
    <p:sldId id="277" r:id="rId11"/>
    <p:sldId id="266" r:id="rId12"/>
    <p:sldId id="275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1737C0E-AEBB-4A5D-9132-5AE929D4473D}" styleName="表样式 1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rgbClr val="00B0F0"/>
              </a:solidFill>
              <a:prstDash val="solid"/>
            </a:ln>
          </a:left>
          <a:right>
            <a:ln w="12700" cmpd="sng">
              <a:solidFill>
                <a:srgbClr val="00B0F0"/>
              </a:solidFill>
              <a:prstDash val="solid"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00B0F0">
              <a:lumMod val="10000"/>
              <a:lumOff val="90000"/>
            </a:srgbClr>
          </a:solidFill>
        </a:fill>
      </a:tcStyle>
    </a:band2H>
    <a:band1V>
      <a:tcStyle>
        <a:tcBdr/>
        <a:fill>
          <a:solidFill>
            <a:srgbClr val="00B0F0">
              <a:lumMod val="10000"/>
              <a:lumOff val="90000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rgbClr val="00B0F0"/>
              </a:solidFill>
              <a:prstDash val="solid"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00B0F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00B0F0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00B0F0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00B0F0"/>
              </a:solidFill>
              <a:prstDash val="solid"/>
            </a:ln>
          </a:left>
          <a:right>
            <a:ln w="12700" cmpd="sng">
              <a:solidFill>
                <a:srgbClr val="00B0F0"/>
              </a:solidFill>
              <a:prstDash val="solid"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00B0F0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00B0F0"/>
              </a:solidFill>
              <a:prstDash val="solid"/>
            </a:ln>
          </a:top>
          <a:bottom>
            <a:ln w="9525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00B0F0"/>
              </a:solidFill>
              <a:prstDash val="solid"/>
            </a:ln>
          </a:top>
          <a:bottom>
            <a:ln w="9525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00B0F0"/>
              </a:solidFill>
              <a:prstDash val="solid"/>
            </a:ln>
          </a:left>
          <a:right>
            <a:ln w="12700" cmpd="sng">
              <a:solidFill>
                <a:srgbClr val="00B0F0"/>
              </a:solidFill>
              <a:prstDash val="solid"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00B0F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2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年会主题背景图-无文案-0304-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pic>
        <p:nvPicPr>
          <p:cNvPr id="8" name="图片 7" descr="E:/超级视觉/企业文化/LOGO/LOGO/2_LOGO文字左右排列/白字(常规使用)/超级视觉 - 白字.png超级视觉 - 白字"/>
          <p:cNvPicPr>
            <a:picLocks noChangeAspect="1"/>
          </p:cNvPicPr>
          <p:nvPr userDrawn="1"/>
        </p:nvPicPr>
        <p:blipFill>
          <a:blip r:embed="rId3"/>
          <a:srcRect l="73" r="73"/>
          <a:stretch>
            <a:fillRect/>
          </a:stretch>
        </p:blipFill>
        <p:spPr>
          <a:xfrm>
            <a:off x="182880" y="245745"/>
            <a:ext cx="2193290" cy="4324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年会主题背景图-无文案-0304-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pic>
        <p:nvPicPr>
          <p:cNvPr id="8" name="图片 7" descr="E:/超级视觉/企业文化/LOGO/LOGO/2_LOGO文字左右排列/白字(常规使用)/超级视觉 - 白字.png超级视觉 - 白字"/>
          <p:cNvPicPr>
            <a:picLocks noChangeAspect="1"/>
          </p:cNvPicPr>
          <p:nvPr userDrawn="1"/>
        </p:nvPicPr>
        <p:blipFill>
          <a:blip r:embed="rId13"/>
          <a:srcRect l="73" r="73"/>
          <a:stretch>
            <a:fillRect/>
          </a:stretch>
        </p:blipFill>
        <p:spPr>
          <a:xfrm>
            <a:off x="182880" y="245745"/>
            <a:ext cx="2193290" cy="43243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defRPr sz="2800" b="0" i="0" u="none" kern="1200">
          <a:solidFill>
            <a:srgbClr val="FFFFFF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0" y="2007235"/>
            <a:ext cx="12191365" cy="2237740"/>
          </a:xfrm>
        </p:spPr>
        <p:txBody>
          <a:bodyPr>
            <a:noAutofit/>
          </a:bodyPr>
          <a:p>
            <a:pPr algn="ctr"/>
            <a:r>
              <a:rPr lang="zh-CN" altLang="en-US" sz="4800">
                <a:solidFill>
                  <a:schemeClr val="bg1"/>
                </a:solidFill>
              </a:rPr>
              <a:t>述职报告</a:t>
            </a:r>
            <a:br>
              <a:rPr lang="zh-CN" altLang="en-US" sz="3200">
                <a:solidFill>
                  <a:schemeClr val="bg1"/>
                </a:solidFill>
              </a:rPr>
            </a:br>
            <a:r>
              <a:rPr lang="en-US" altLang="zh-CN" sz="3200">
                <a:solidFill>
                  <a:schemeClr val="bg1"/>
                </a:solidFill>
              </a:rPr>
              <a:t>                              </a:t>
            </a:r>
            <a:br>
              <a:rPr lang="en-US" altLang="zh-CN" sz="3200">
                <a:solidFill>
                  <a:schemeClr val="bg1"/>
                </a:solidFill>
              </a:rPr>
            </a:br>
            <a:r>
              <a:rPr lang="en-US" altLang="zh-CN" sz="3200">
                <a:solidFill>
                  <a:schemeClr val="bg1"/>
                </a:solidFill>
              </a:rPr>
              <a:t>——</a:t>
            </a:r>
            <a:r>
              <a:rPr lang="zh-CN" altLang="en-US" sz="3200">
                <a:solidFill>
                  <a:schemeClr val="bg1"/>
                </a:solidFill>
              </a:rPr>
              <a:t>转正评定</a:t>
            </a:r>
            <a:br>
              <a:rPr lang="zh-CN" altLang="en-US" sz="3200">
                <a:solidFill>
                  <a:schemeClr val="bg1"/>
                </a:solidFill>
              </a:rPr>
            </a:br>
            <a:br>
              <a:rPr lang="en-US" altLang="zh-CN" sz="3200">
                <a:solidFill>
                  <a:schemeClr val="bg1"/>
                </a:solidFill>
              </a:rPr>
            </a:br>
            <a:endParaRPr lang="en-US" altLang="zh-CN" sz="3200">
              <a:solidFill>
                <a:schemeClr val="bg1"/>
              </a:solidFill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-445135" y="5619750"/>
            <a:ext cx="12192635" cy="1174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altLang="zh-CN" sz="3200">
                <a:solidFill>
                  <a:schemeClr val="bg1"/>
                </a:solidFill>
              </a:rPr>
            </a:br>
            <a:r>
              <a:rPr lang="zh-CN" altLang="en-US" sz="1800">
                <a:solidFill>
                  <a:schemeClr val="bg1"/>
                </a:solidFill>
              </a:rPr>
              <a:t>述职人：谢仕杰</a:t>
            </a:r>
            <a:br>
              <a:rPr lang="en-US" altLang="zh-CN" sz="1800">
                <a:solidFill>
                  <a:schemeClr val="bg1"/>
                </a:solidFill>
              </a:rPr>
            </a:br>
            <a:br>
              <a:rPr lang="en-US" altLang="zh-CN" sz="1800">
                <a:solidFill>
                  <a:schemeClr val="bg1"/>
                </a:solidFill>
              </a:rPr>
            </a:br>
            <a:br>
              <a:rPr lang="en-US" altLang="zh-CN" sz="3200">
                <a:solidFill>
                  <a:schemeClr val="bg1"/>
                </a:solidFill>
              </a:rPr>
            </a:br>
            <a:endParaRPr lang="en-US" altLang="zh-CN" sz="3200">
              <a:solidFill>
                <a:schemeClr val="bg1"/>
              </a:solidFill>
            </a:endParaRPr>
          </a:p>
          <a:p>
            <a:pPr algn="ctr"/>
            <a:br>
              <a:rPr lang="en-US" altLang="zh-CN" sz="3200">
                <a:solidFill>
                  <a:schemeClr val="bg1"/>
                </a:solidFill>
              </a:rPr>
            </a:br>
            <a:r>
              <a:rPr lang="zh-CN" altLang="en-US" sz="1800">
                <a:solidFill>
                  <a:schemeClr val="bg1"/>
                </a:solidFill>
              </a:rPr>
              <a:t>述职时间：2026-10-</a:t>
            </a:r>
            <a:r>
              <a:rPr lang="en-US" altLang="zh-CN" sz="1800">
                <a:solidFill>
                  <a:schemeClr val="bg1"/>
                </a:solidFill>
              </a:rPr>
              <a:t>15-15:30</a:t>
            </a:r>
            <a:br>
              <a:rPr lang="en-US" altLang="zh-CN" sz="1800">
                <a:solidFill>
                  <a:schemeClr val="bg1"/>
                </a:solidFill>
              </a:rPr>
            </a:br>
            <a:br>
              <a:rPr lang="en-US" altLang="zh-CN" sz="1800">
                <a:solidFill>
                  <a:schemeClr val="bg1"/>
                </a:solidFill>
              </a:rPr>
            </a:br>
            <a:br>
              <a:rPr lang="en-US" altLang="zh-CN" sz="3200">
                <a:solidFill>
                  <a:schemeClr val="bg1"/>
                </a:solidFill>
              </a:rPr>
            </a:br>
            <a:endParaRPr lang="en-US" altLang="zh-CN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584450" y="3049270"/>
            <a:ext cx="1827530" cy="8343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目录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455410" y="2578735"/>
            <a:ext cx="7324725" cy="11010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个人综述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6455410" y="3604895"/>
            <a:ext cx="5932170" cy="11010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p>
            <a:pPr lvl="0"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试用期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工作目标及成果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6583045" y="4592955"/>
            <a:ext cx="5307330" cy="11010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p>
            <a:pPr lvl="0"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五大能力自我评价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6466205" y="5510530"/>
            <a:ext cx="3983355" cy="11010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p>
            <a:pPr lvl="0"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转正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后工作开展思路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55315" y="-23495"/>
            <a:ext cx="685800" cy="2880995"/>
          </a:xfrm>
          <a:prstGeom prst="rect">
            <a:avLst/>
          </a:prstGeom>
          <a:blipFill>
            <a:blip r:embed="rId5"/>
          </a:blip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731510" y="2415540"/>
            <a:ext cx="724535" cy="4476750"/>
          </a:xfrm>
          <a:prstGeom prst="rect">
            <a:avLst/>
          </a:prstGeom>
          <a:blipFill rotWithShape="1">
            <a:blip r:embed="rId5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5740400" y="2857500"/>
            <a:ext cx="725805" cy="543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endParaRPr lang="zh-CN" altLang="en-US" sz="3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5730240" y="3883660"/>
            <a:ext cx="725805" cy="543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endParaRPr lang="zh-CN" altLang="en-US" sz="3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5730240" y="4871720"/>
            <a:ext cx="725805" cy="543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</a:t>
            </a:r>
            <a:endParaRPr lang="zh-CN" altLang="en-US" sz="3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9"/>
            </p:custDataLst>
          </p:nvPr>
        </p:nvSpPr>
        <p:spPr>
          <a:xfrm>
            <a:off x="5730240" y="5867400"/>
            <a:ext cx="725805" cy="543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</a:t>
            </a:r>
            <a:endParaRPr lang="zh-CN" altLang="en-US" sz="3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1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512569" y="957014"/>
            <a:ext cx="3886387" cy="430679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500" b="1" dirty="0" smtClean="0">
                <a:latin typeface="微软雅黑" panose="020B0503020204020204" charset="-122"/>
                <a:ea typeface="微软雅黑" panose="020B0503020204020204" charset="-122"/>
              </a:rPr>
              <a:t>一、个人综述</a:t>
            </a:r>
            <a:endParaRPr lang="zh-CN" altLang="en-US" sz="25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512443" y="1743591"/>
            <a:ext cx="5295525" cy="546841"/>
            <a:chOff x="2999656" y="1916832"/>
            <a:chExt cx="6336704" cy="618849"/>
          </a:xfrm>
          <a:solidFill>
            <a:srgbClr val="00B0F0"/>
          </a:solidFill>
        </p:grpSpPr>
        <p:sp>
          <p:nvSpPr>
            <p:cNvPr id="18" name="五边形 17"/>
            <p:cNvSpPr/>
            <p:nvPr>
              <p:custDataLst>
                <p:tags r:id="rId2"/>
              </p:custDataLst>
            </p:nvPr>
          </p:nvSpPr>
          <p:spPr>
            <a:xfrm flipH="1">
              <a:off x="2999656" y="1916832"/>
              <a:ext cx="858702" cy="618849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zh-CN" alt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五边形 18"/>
            <p:cNvSpPr/>
            <p:nvPr>
              <p:custDataLst>
                <p:tags r:id="rId3"/>
              </p:custDataLst>
            </p:nvPr>
          </p:nvSpPr>
          <p:spPr>
            <a:xfrm flipH="1">
              <a:off x="4006126" y="1916832"/>
              <a:ext cx="4644165" cy="618849"/>
            </a:xfrm>
            <a:prstGeom prst="homePlate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zh-CN" altLang="en-US" b="1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个人简历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任意多边形 19"/>
            <p:cNvSpPr/>
            <p:nvPr/>
          </p:nvSpPr>
          <p:spPr>
            <a:xfrm flipH="1">
              <a:off x="8798060" y="1916832"/>
              <a:ext cx="538300" cy="618849"/>
            </a:xfrm>
            <a:custGeom>
              <a:avLst/>
              <a:gdLst>
                <a:gd name="connsiteX0" fmla="*/ 406047 w 406047"/>
                <a:gd name="connsiteY0" fmla="*/ 0 h 504056"/>
                <a:gd name="connsiteX1" fmla="*/ 0 w 406047"/>
                <a:gd name="connsiteY1" fmla="*/ 0 h 504056"/>
                <a:gd name="connsiteX2" fmla="*/ 137728 w 406047"/>
                <a:gd name="connsiteY2" fmla="*/ 252028 h 504056"/>
                <a:gd name="connsiteX3" fmla="*/ 0 w 406047"/>
                <a:gd name="connsiteY3" fmla="*/ 504056 h 504056"/>
                <a:gd name="connsiteX4" fmla="*/ 406047 w 406047"/>
                <a:gd name="connsiteY4" fmla="*/ 504056 h 50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47" h="504056">
                  <a:moveTo>
                    <a:pt x="406047" y="0"/>
                  </a:moveTo>
                  <a:lnTo>
                    <a:pt x="0" y="0"/>
                  </a:lnTo>
                  <a:lnTo>
                    <a:pt x="137728" y="252028"/>
                  </a:lnTo>
                  <a:lnTo>
                    <a:pt x="0" y="504056"/>
                  </a:lnTo>
                  <a:lnTo>
                    <a:pt x="406047" y="50405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4"/>
            </p:custDataLst>
          </p:nvPr>
        </p:nvGrpSpPr>
        <p:grpSpPr>
          <a:xfrm>
            <a:off x="512443" y="2761445"/>
            <a:ext cx="5295525" cy="546839"/>
            <a:chOff x="2999656" y="2890982"/>
            <a:chExt cx="6336704" cy="618847"/>
          </a:xfrm>
          <a:solidFill>
            <a:srgbClr val="00B0F0"/>
          </a:solidFill>
        </p:grpSpPr>
        <p:sp>
          <p:nvSpPr>
            <p:cNvPr id="22" name="五边形 21"/>
            <p:cNvSpPr/>
            <p:nvPr>
              <p:custDataLst>
                <p:tags r:id="rId5"/>
              </p:custDataLst>
            </p:nvPr>
          </p:nvSpPr>
          <p:spPr>
            <a:xfrm flipH="1">
              <a:off x="2999656" y="2890982"/>
              <a:ext cx="858702" cy="618847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zh-CN" alt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五边形 22"/>
            <p:cNvSpPr/>
            <p:nvPr>
              <p:custDataLst>
                <p:tags r:id="rId6"/>
              </p:custDataLst>
            </p:nvPr>
          </p:nvSpPr>
          <p:spPr>
            <a:xfrm flipH="1">
              <a:off x="4006126" y="2890982"/>
              <a:ext cx="4644165" cy="618847"/>
            </a:xfrm>
            <a:prstGeom prst="homePlate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zh-CN" altLang="en-US" b="1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总体评价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 flipH="1">
              <a:off x="8798060" y="2890982"/>
              <a:ext cx="538300" cy="618847"/>
            </a:xfrm>
            <a:custGeom>
              <a:avLst/>
              <a:gdLst>
                <a:gd name="connsiteX0" fmla="*/ 406047 w 406047"/>
                <a:gd name="connsiteY0" fmla="*/ 0 h 504056"/>
                <a:gd name="connsiteX1" fmla="*/ 0 w 406047"/>
                <a:gd name="connsiteY1" fmla="*/ 0 h 504056"/>
                <a:gd name="connsiteX2" fmla="*/ 137728 w 406047"/>
                <a:gd name="connsiteY2" fmla="*/ 252028 h 504056"/>
                <a:gd name="connsiteX3" fmla="*/ 0 w 406047"/>
                <a:gd name="connsiteY3" fmla="*/ 504056 h 504056"/>
                <a:gd name="connsiteX4" fmla="*/ 406047 w 406047"/>
                <a:gd name="connsiteY4" fmla="*/ 504056 h 50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47" h="504056">
                  <a:moveTo>
                    <a:pt x="406047" y="0"/>
                  </a:moveTo>
                  <a:lnTo>
                    <a:pt x="0" y="0"/>
                  </a:lnTo>
                  <a:lnTo>
                    <a:pt x="137728" y="252028"/>
                  </a:lnTo>
                  <a:lnTo>
                    <a:pt x="0" y="504056"/>
                  </a:lnTo>
                  <a:lnTo>
                    <a:pt x="406047" y="50405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7"/>
            </p:custDataLst>
          </p:nvPr>
        </p:nvGrpSpPr>
        <p:grpSpPr>
          <a:xfrm>
            <a:off x="512443" y="3779297"/>
            <a:ext cx="5295525" cy="546841"/>
            <a:chOff x="2999656" y="3865129"/>
            <a:chExt cx="6336704" cy="618849"/>
          </a:xfrm>
          <a:solidFill>
            <a:srgbClr val="00B0F0"/>
          </a:solidFill>
        </p:grpSpPr>
        <p:sp>
          <p:nvSpPr>
            <p:cNvPr id="26" name="五边形 25"/>
            <p:cNvSpPr/>
            <p:nvPr>
              <p:custDataLst>
                <p:tags r:id="rId8"/>
              </p:custDataLst>
            </p:nvPr>
          </p:nvSpPr>
          <p:spPr>
            <a:xfrm flipH="1">
              <a:off x="2999656" y="3865129"/>
              <a:ext cx="858702" cy="618849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40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zh-CN" altLang="en-US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五边形 26"/>
            <p:cNvSpPr/>
            <p:nvPr>
              <p:custDataLst>
                <p:tags r:id="rId9"/>
              </p:custDataLst>
            </p:nvPr>
          </p:nvSpPr>
          <p:spPr>
            <a:xfrm flipH="1">
              <a:off x="4006126" y="3865129"/>
              <a:ext cx="4644165" cy="618849"/>
            </a:xfrm>
            <a:prstGeom prst="homePlate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zh-CN" altLang="en-US" b="1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存在改进机会点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 27"/>
            <p:cNvSpPr/>
            <p:nvPr/>
          </p:nvSpPr>
          <p:spPr>
            <a:xfrm flipH="1">
              <a:off x="8798060" y="3865129"/>
              <a:ext cx="538300" cy="618849"/>
            </a:xfrm>
            <a:custGeom>
              <a:avLst/>
              <a:gdLst>
                <a:gd name="connsiteX0" fmla="*/ 406047 w 406047"/>
                <a:gd name="connsiteY0" fmla="*/ 0 h 504056"/>
                <a:gd name="connsiteX1" fmla="*/ 0 w 406047"/>
                <a:gd name="connsiteY1" fmla="*/ 0 h 504056"/>
                <a:gd name="connsiteX2" fmla="*/ 137728 w 406047"/>
                <a:gd name="connsiteY2" fmla="*/ 252028 h 504056"/>
                <a:gd name="connsiteX3" fmla="*/ 0 w 406047"/>
                <a:gd name="connsiteY3" fmla="*/ 504056 h 504056"/>
                <a:gd name="connsiteX4" fmla="*/ 406047 w 406047"/>
                <a:gd name="connsiteY4" fmla="*/ 504056 h 50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47" h="504056">
                  <a:moveTo>
                    <a:pt x="406047" y="0"/>
                  </a:moveTo>
                  <a:lnTo>
                    <a:pt x="0" y="0"/>
                  </a:lnTo>
                  <a:lnTo>
                    <a:pt x="137728" y="252028"/>
                  </a:lnTo>
                  <a:lnTo>
                    <a:pt x="0" y="504056"/>
                  </a:lnTo>
                  <a:lnTo>
                    <a:pt x="406047" y="50405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10"/>
            </p:custDataLst>
          </p:nvPr>
        </p:nvGrpSpPr>
        <p:grpSpPr>
          <a:xfrm>
            <a:off x="512443" y="4797152"/>
            <a:ext cx="5295525" cy="546839"/>
            <a:chOff x="2999656" y="4839280"/>
            <a:chExt cx="6336704" cy="618847"/>
          </a:xfrm>
          <a:solidFill>
            <a:srgbClr val="00B0F0"/>
          </a:solidFill>
        </p:grpSpPr>
        <p:sp>
          <p:nvSpPr>
            <p:cNvPr id="30" name="五边形 29"/>
            <p:cNvSpPr/>
            <p:nvPr>
              <p:custDataLst>
                <p:tags r:id="rId11"/>
              </p:custDataLst>
            </p:nvPr>
          </p:nvSpPr>
          <p:spPr>
            <a:xfrm flipH="1">
              <a:off x="2999656" y="4839280"/>
              <a:ext cx="858702" cy="618847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zh-CN" alt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五边形 30"/>
            <p:cNvSpPr/>
            <p:nvPr>
              <p:custDataLst>
                <p:tags r:id="rId12"/>
              </p:custDataLst>
            </p:nvPr>
          </p:nvSpPr>
          <p:spPr>
            <a:xfrm flipH="1">
              <a:off x="4006126" y="4839280"/>
              <a:ext cx="4644165" cy="618847"/>
            </a:xfrm>
            <a:prstGeom prst="homePlate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zh-CN" altLang="en-US" b="1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自我发展需求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任意多边形 31"/>
            <p:cNvSpPr/>
            <p:nvPr/>
          </p:nvSpPr>
          <p:spPr>
            <a:xfrm flipH="1">
              <a:off x="8798060" y="4839280"/>
              <a:ext cx="538300" cy="618847"/>
            </a:xfrm>
            <a:custGeom>
              <a:avLst/>
              <a:gdLst>
                <a:gd name="connsiteX0" fmla="*/ 406047 w 406047"/>
                <a:gd name="connsiteY0" fmla="*/ 0 h 504056"/>
                <a:gd name="connsiteX1" fmla="*/ 0 w 406047"/>
                <a:gd name="connsiteY1" fmla="*/ 0 h 504056"/>
                <a:gd name="connsiteX2" fmla="*/ 137728 w 406047"/>
                <a:gd name="connsiteY2" fmla="*/ 252028 h 504056"/>
                <a:gd name="connsiteX3" fmla="*/ 0 w 406047"/>
                <a:gd name="connsiteY3" fmla="*/ 504056 h 504056"/>
                <a:gd name="connsiteX4" fmla="*/ 406047 w 406047"/>
                <a:gd name="connsiteY4" fmla="*/ 504056 h 50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47" h="504056">
                  <a:moveTo>
                    <a:pt x="406047" y="0"/>
                  </a:moveTo>
                  <a:lnTo>
                    <a:pt x="0" y="0"/>
                  </a:lnTo>
                  <a:lnTo>
                    <a:pt x="137728" y="252028"/>
                  </a:lnTo>
                  <a:lnTo>
                    <a:pt x="0" y="504056"/>
                  </a:lnTo>
                  <a:lnTo>
                    <a:pt x="406047" y="50405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 b="1">
                <a:solidFill>
                  <a:srgbClr val="FFFFFF"/>
                </a:solidFill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44895" y="1254760"/>
            <a:ext cx="5669280" cy="5218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01 个人简历</a:t>
            </a:r>
            <a:endParaRPr sz="1600" b="1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谢仕杰 | 研发部门·测试组 | 测试工程师 | 2026-06-15 入职，试用期至 2026-09-15。主责斯诺克大师国内APP、小超智管两条产品线的测试工作。</a:t>
            </a:r>
            <a:endParaRPr sz="1600" b="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02 总体评价</a:t>
            </a:r>
            <a:endParaRPr sz="1600" b="1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试用期内快速掌握两条产品线业务，独立承担斯诺克APP一期、二期全部核心需求测试；发挥并发测试与接口自动化技术特长，复现并闭环小超支付模块生产级缺陷；主动建设Apifox自动化体系与三层测试知识库，投入度高。</a:t>
            </a:r>
            <a:endParaRPr sz="1600" b="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03 存在改进机会点</a:t>
            </a:r>
            <a:endParaRPr sz="1600" b="1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① 业务广度：</a:t>
            </a:r>
            <a:r>
              <a:rPr lang="zh-CN" sz="1600" b="0">
                <a:solidFill>
                  <a:schemeClr val="bg1"/>
                </a:solidFill>
                <a:latin typeface="微软雅黑" panose="020B0503020204020204" charset="-122"/>
              </a:rPr>
              <a:t>斯诺克</a:t>
            </a:r>
            <a:r>
              <a:rPr lang="en-US" altLang="zh-CN" sz="1600" b="0">
                <a:solidFill>
                  <a:schemeClr val="bg1"/>
                </a:solidFill>
                <a:latin typeface="微软雅黑" panose="020B0503020204020204" charset="-122"/>
              </a:rPr>
              <a:t>/</a:t>
            </a:r>
            <a:r>
              <a:rPr lang="zh-CN" altLang="en-US" sz="1600" b="0">
                <a:solidFill>
                  <a:schemeClr val="bg1"/>
                </a:solidFill>
                <a:latin typeface="微软雅黑" panose="020B0503020204020204" charset="-122"/>
              </a:rPr>
              <a:t>小超智管</a:t>
            </a: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小程序端与海外版</a:t>
            </a:r>
            <a:r>
              <a:rPr lang="en-US" sz="1600" b="0">
                <a:solidFill>
                  <a:schemeClr val="bg1"/>
                </a:solidFill>
                <a:latin typeface="微软雅黑" panose="020B0503020204020204" charset="-122"/>
              </a:rPr>
              <a:t>APP</a:t>
            </a: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、后端</a:t>
            </a:r>
            <a:r>
              <a:rPr lang="zh-CN" sz="1600" b="0">
                <a:solidFill>
                  <a:schemeClr val="bg1"/>
                </a:solidFill>
                <a:latin typeface="微软雅黑" panose="020B0503020204020204" charset="-122"/>
              </a:rPr>
              <a:t>全</a:t>
            </a: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链路的理解需继续加深；② 回归基线：自动化目前集中于灯控/桌台链路，需扩展至支付、订单核心链；③ 数据化度量：缺陷逃逸率、覆盖率等质量指标体系正在建设中。</a:t>
            </a:r>
            <a:endParaRPr sz="1600" b="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04 自我发展需求</a:t>
            </a:r>
            <a:endParaRPr sz="1600" b="1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</a:rPr>
              <a:t>期望成长为组内自动化测试的推进者：从个人已验证的接口自动化经验出发，将核心链路自动化回归从单业务扩展到多产品，逐步补齐团队在回归自动化上的空白；同时向性能测试纵深发展。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511525" y="853176"/>
            <a:ext cx="5872507" cy="430679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二、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试用期工作目标及成果罗列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3570" y="1690370"/>
            <a:ext cx="10673715" cy="359981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None/>
            </a:pP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① 斯诺克大师国内APP一期：独立负责全部核心需求与功能模块测试（登录、视频制作、播放器、交手记录、多语言、埋点），保障版本按期上线【用例数/缺陷数：</a:t>
            </a:r>
            <a:r>
              <a:rPr lang="en-US" sz="1600" b="0">
                <a:solidFill>
                  <a:schemeClr val="bg1"/>
                </a:solidFill>
                <a:latin typeface="微软雅黑" panose="020B0503020204020204" charset="-122"/>
              </a:rPr>
              <a:t>200/40</a:t>
            </a: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】</a:t>
            </a:r>
            <a:endParaRPr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② 斯诺克大师APP二期：主导支付模块（微信/IAP、现金与视频券互斥解锁及退款规则）、个人数据可视化、微信抖音分享、消息推送测试；新增跨端重复购买拦截场景【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用例数/缺陷数</a:t>
            </a: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：</a:t>
            </a:r>
            <a:r>
              <a:rPr lang="en-US" sz="1600" b="0">
                <a:solidFill>
                  <a:schemeClr val="bg1"/>
                </a:solidFill>
                <a:latin typeface="微软雅黑" panose="020B0503020204020204" charset="-122"/>
              </a:rPr>
              <a:t>180/75</a:t>
            </a: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】</a:t>
            </a:r>
            <a:endParaRPr sz="1600" b="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③ 小超智管V2.2.0：灯控稳定性提升优化接口自动化测试覆盖</a:t>
            </a:r>
            <a:endParaRPr sz="1600" b="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④ 小超智管V2.2.1/</a:t>
            </a:r>
            <a:r>
              <a:rPr lang="en-US" sz="1600" b="0">
                <a:solidFill>
                  <a:schemeClr val="bg1"/>
                </a:solidFill>
                <a:latin typeface="微软雅黑" panose="020B0503020204020204" charset="-122"/>
              </a:rPr>
              <a:t>3</a:t>
            </a: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/</a:t>
            </a:r>
            <a:r>
              <a:rPr lang="en-US" sz="1600" b="0">
                <a:solidFill>
                  <a:schemeClr val="bg1"/>
                </a:solidFill>
                <a:latin typeface="微软雅黑" panose="020B0503020204020204" charset="-122"/>
              </a:rPr>
              <a:t>5</a:t>
            </a: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迭代：需求分析、缺陷定位与回归验证，复现支付幂等/并发类生产级缺陷</a:t>
            </a:r>
            <a:endParaRPr sz="1600" b="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⑤ 支付专项测试：Python多线程/多进程/异步并发脚本复现“手动无法复现”的支付缺陷，推进开发修复并闭环</a:t>
            </a:r>
            <a:endParaRPr sz="1600" b="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lang="en-US" altLang="zh-CN" sz="1600" b="0">
                <a:solidFill>
                  <a:schemeClr val="bg1"/>
                </a:solidFill>
                <a:latin typeface="微软雅黑" panose="020B0503020204020204" charset="-122"/>
              </a:rPr>
              <a:t>⑥ AI</a:t>
            </a:r>
            <a:r>
              <a:rPr lang="zh-CN" altLang="en-US" sz="1600" b="0">
                <a:solidFill>
                  <a:schemeClr val="bg1"/>
                </a:solidFill>
                <a:latin typeface="微软雅黑" panose="020B0503020204020204" charset="-122"/>
              </a:rPr>
              <a:t>提效提质：运用</a:t>
            </a:r>
            <a:r>
              <a:rPr lang="en-US" altLang="zh-CN" sz="1600" b="0">
                <a:solidFill>
                  <a:schemeClr val="bg1"/>
                </a:solidFill>
                <a:latin typeface="微软雅黑" panose="020B0503020204020204" charset="-122"/>
              </a:rPr>
              <a:t>WorkBuddy/Claude Code</a:t>
            </a:r>
            <a:r>
              <a:rPr lang="zh-CN" altLang="en-US" sz="1600" b="0">
                <a:solidFill>
                  <a:schemeClr val="bg1"/>
                </a:solidFill>
                <a:latin typeface="微软雅黑" panose="020B0503020204020204" charset="-122"/>
              </a:rPr>
              <a:t>完成"</a:t>
            </a:r>
            <a:r>
              <a:rPr lang="en-US" altLang="zh-CN" sz="1600" b="0">
                <a:solidFill>
                  <a:schemeClr val="bg1"/>
                </a:solidFill>
                <a:latin typeface="微软雅黑" panose="020B0503020204020204" charset="-122"/>
              </a:rPr>
              <a:t>Apifox</a:t>
            </a:r>
            <a:r>
              <a:rPr lang="zh-CN" altLang="en-US" sz="1600" b="0">
                <a:solidFill>
                  <a:schemeClr val="bg1"/>
                </a:solidFill>
                <a:latin typeface="微软雅黑" panose="020B0503020204020204" charset="-122"/>
              </a:rPr>
              <a:t>自动化用例→</a:t>
            </a:r>
            <a:r>
              <a:rPr lang="en-US" altLang="zh-CN" sz="1600" b="0">
                <a:solidFill>
                  <a:schemeClr val="bg1"/>
                </a:solidFill>
                <a:latin typeface="微软雅黑" panose="020B0503020204020204" charset="-122"/>
              </a:rPr>
              <a:t>Python</a:t>
            </a:r>
            <a:r>
              <a:rPr lang="zh-CN" altLang="en-US" sz="1600" b="0">
                <a:solidFill>
                  <a:schemeClr val="bg1"/>
                </a:solidFill>
                <a:latin typeface="微软雅黑" panose="020B0503020204020204" charset="-122"/>
              </a:rPr>
              <a:t>脚本自动化"转换，自动化资产摆脱接口工具依赖、升级为可自由扩展的代码级资产；建立"</a:t>
            </a:r>
            <a:r>
              <a:rPr lang="en-US" altLang="zh-CN" sz="1600" b="0">
                <a:solidFill>
                  <a:schemeClr val="bg1"/>
                </a:solidFill>
                <a:latin typeface="微软雅黑" panose="020B0503020204020204" charset="-122"/>
              </a:rPr>
              <a:t>AI+</a:t>
            </a:r>
            <a:r>
              <a:rPr lang="zh-CN" altLang="en-US" sz="1600" b="0">
                <a:solidFill>
                  <a:schemeClr val="bg1"/>
                </a:solidFill>
                <a:latin typeface="微软雅黑" panose="020B0503020204020204" charset="-122"/>
              </a:rPr>
              <a:t>数据统计分析"定位方法——提测阶段面对接口响应体量大的场景，用</a:t>
            </a:r>
            <a:r>
              <a:rPr lang="en-US" altLang="zh-CN" sz="1600" b="0">
                <a:solidFill>
                  <a:schemeClr val="bg1"/>
                </a:solidFill>
                <a:latin typeface="微软雅黑" panose="020B0503020204020204" charset="-122"/>
              </a:rPr>
              <a:t>AI</a:t>
            </a:r>
            <a:r>
              <a:rPr lang="zh-CN" altLang="en-US" sz="1600" b="0">
                <a:solidFill>
                  <a:schemeClr val="bg1"/>
                </a:solidFill>
                <a:latin typeface="微软雅黑" panose="020B0503020204020204" charset="-122"/>
              </a:rPr>
              <a:t>分析接口与数据库数据快速定位问题根源，替代人工肉眼排查</a:t>
            </a:r>
            <a:endParaRPr lang="zh-CN" altLang="en-US" sz="1600" b="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lang="zh-CN" altLang="en-US" sz="1600" b="0">
                <a:solidFill>
                  <a:schemeClr val="bg1"/>
                </a:solidFill>
                <a:latin typeface="微软雅黑" panose="020B0503020204020204" charset="-122"/>
              </a:rPr>
              <a:t>⑦ 工具与知识工程：在</a:t>
            </a:r>
            <a:r>
              <a:rPr lang="en-US" altLang="zh-CN" sz="1600" b="0">
                <a:solidFill>
                  <a:schemeClr val="bg1"/>
                </a:solidFill>
                <a:latin typeface="微软雅黑" panose="020B0503020204020204" charset="-122"/>
              </a:rPr>
              <a:t>Apifox</a:t>
            </a:r>
            <a:r>
              <a:rPr lang="zh-CN" altLang="en-US" sz="1600" b="0">
                <a:solidFill>
                  <a:schemeClr val="bg1"/>
                </a:solidFill>
                <a:latin typeface="微软雅黑" panose="020B0503020204020204" charset="-122"/>
              </a:rPr>
              <a:t>内完成小超灯控+桌台开关全业务场景自动化覆盖；建立"业务模块/技术知识/测试规范"三层知识库并配套</a:t>
            </a:r>
            <a:r>
              <a:rPr lang="en-US" altLang="zh-CN" sz="1600" b="0">
                <a:solidFill>
                  <a:schemeClr val="bg1"/>
                </a:solidFill>
                <a:latin typeface="微软雅黑" panose="020B0503020204020204" charset="-122"/>
              </a:rPr>
              <a:t>AI</a:t>
            </a:r>
            <a:r>
              <a:rPr lang="zh-CN" altLang="en-US" sz="1600" b="0">
                <a:solidFill>
                  <a:schemeClr val="bg1"/>
                </a:solidFill>
                <a:latin typeface="微软雅黑" panose="020B0503020204020204" charset="-122"/>
              </a:rPr>
              <a:t>协作规范</a:t>
            </a:r>
            <a:r>
              <a:rPr lang="en-US" altLang="zh-CN" sz="1600" b="0">
                <a:solidFill>
                  <a:schemeClr val="bg1"/>
                </a:solidFill>
                <a:latin typeface="微软雅黑" panose="020B0503020204020204" charset="-122"/>
              </a:rPr>
              <a:t>，</a:t>
            </a:r>
            <a:r>
              <a:rPr lang="zh-CN" altLang="en-US" sz="1600" b="0">
                <a:solidFill>
                  <a:schemeClr val="bg1"/>
                </a:solidFill>
                <a:latin typeface="微软雅黑" panose="020B0503020204020204" charset="-122"/>
              </a:rPr>
              <a:t>供后续迭代与新人复用</a:t>
            </a:r>
            <a:endParaRPr lang="zh-CN" altLang="en-US" sz="1600" b="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Group 68"/>
          <p:cNvGraphicFramePr/>
          <p:nvPr>
            <p:custDataLst>
              <p:tags r:id="rId1"/>
            </p:custDataLst>
          </p:nvPr>
        </p:nvGraphicFramePr>
        <p:xfrm>
          <a:off x="550545" y="1412875"/>
          <a:ext cx="5186045" cy="3933190"/>
        </p:xfrm>
        <a:graphic>
          <a:graphicData uri="http://schemas.openxmlformats.org/drawingml/2006/table">
            <a:tbl>
              <a:tblPr firstRow="1" firstCol="1">
                <a:tableStyleId>{81737C0E-AEBB-4A5D-9132-5AE929D4473D}</a:tableStyleId>
              </a:tblPr>
              <a:tblGrid>
                <a:gridCol w="2792095"/>
                <a:gridCol w="1196975"/>
                <a:gridCol w="1196975"/>
              </a:tblGrid>
              <a:tr h="7315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关键绩效行为</a:t>
                      </a:r>
                      <a:endParaRPr kumimoji="0" lang="zh-CN" altLang="en-US" sz="24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杰出</a:t>
                      </a:r>
                      <a:endParaRPr kumimoji="0" lang="zh-CN" altLang="en-US" sz="24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良好</a:t>
                      </a:r>
                      <a:endParaRPr kumimoji="0" lang="zh-CN" altLang="en-US" sz="24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</a:tr>
              <a:tr h="6407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高效</a:t>
                      </a:r>
                      <a:endParaRPr kumimoji="0" lang="zh-CN" altLang="en-US" sz="24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r>
                        <a:t>√</a:t>
                      </a: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/>
                  </a:txBody>
                  <a:tcPr marL="91435" marR="91435" marT="45725" marB="45725" anchor="ctr" horzOverflow="overflow"/>
                </a:tc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谦逊</a:t>
                      </a:r>
                      <a:endParaRPr kumimoji="0" lang="zh-CN" altLang="en-US" sz="24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/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r>
                        <a:t>√</a:t>
                      </a:r>
                    </a:p>
                  </a:txBody>
                  <a:tcPr marL="91435" marR="91435" marT="45725" marB="45725" anchor="ctr" horzOverflow="overflow"/>
                </a:tc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务实</a:t>
                      </a:r>
                      <a:endParaRPr kumimoji="0" lang="zh-CN" altLang="en-US" sz="24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r>
                        <a:t>√</a:t>
                      </a: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/>
                  </a:txBody>
                  <a:tcPr marL="91435" marR="91435" marT="45725" marB="45725" anchor="ctr" horzOverflow="overflow"/>
                </a:tc>
              </a:tr>
              <a:tr h="6407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创新</a:t>
                      </a:r>
                      <a:endParaRPr kumimoji="0" lang="zh-CN" altLang="en-US" sz="24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/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r>
                        <a:t>√</a:t>
                      </a:r>
                    </a:p>
                  </a:txBody>
                  <a:tcPr marL="91435" marR="91435" marT="45725" marB="45725" anchor="ctr" horzOverflow="overflow"/>
                </a:tc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长期主义</a:t>
                      </a:r>
                      <a:endParaRPr kumimoji="0" lang="zh-CN" altLang="en-US" sz="24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r>
                        <a:t>√</a:t>
                      </a: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/>
                  </a:txBody>
                  <a:tcPr marL="91435" marR="91435" marT="45725" marB="45725" anchor="ctr" horzOverflow="overflow"/>
                </a:tc>
              </a:tr>
            </a:tbl>
          </a:graphicData>
        </a:graphic>
      </p:graphicFrame>
      <p:sp>
        <p:nvSpPr>
          <p:cNvPr id="5" name="圆角矩形 4"/>
          <p:cNvSpPr>
            <a:spLocks noChangeArrowheads="1"/>
          </p:cNvSpPr>
          <p:nvPr/>
        </p:nvSpPr>
        <p:spPr bwMode="auto">
          <a:xfrm>
            <a:off x="6247130" y="1117600"/>
            <a:ext cx="4599940" cy="4228465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600"/>
              </a:spcBef>
              <a:spcAft>
                <a:spcPts val="400"/>
              </a:spcAft>
              <a:defRPr/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本次重点自评呈现的三项关键绩效行为：</a:t>
            </a:r>
            <a:endParaRPr kumimoji="0"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务实 —— </a:t>
            </a:r>
            <a:r>
              <a:rPr lang="zh-CN" sz="1600" b="0">
                <a:solidFill>
                  <a:schemeClr val="bg1"/>
                </a:solidFill>
                <a:latin typeface="微软雅黑" panose="020B0503020204020204" charset="-122"/>
              </a:rPr>
              <a:t>测试过程中及时反馈进度与风险</a:t>
            </a:r>
            <a:endParaRPr sz="1600" b="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高效 —— </a:t>
            </a:r>
            <a:r>
              <a:rPr lang="zh-CN" sz="1600" b="0">
                <a:solidFill>
                  <a:schemeClr val="bg1"/>
                </a:solidFill>
                <a:latin typeface="微软雅黑" panose="020B0503020204020204" charset="-122"/>
              </a:rPr>
              <a:t>快速理解各迭代需求</a:t>
            </a:r>
            <a:r>
              <a:rPr lang="en-US" altLang="zh-CN" sz="1600" b="0">
                <a:solidFill>
                  <a:schemeClr val="bg1"/>
                </a:solidFill>
                <a:latin typeface="微软雅黑" panose="020B0503020204020204" charset="-122"/>
              </a:rPr>
              <a:t>,</a:t>
            </a:r>
            <a:r>
              <a:rPr lang="zh-CN" altLang="en-US" sz="1600" b="0">
                <a:solidFill>
                  <a:schemeClr val="bg1"/>
                </a:solidFill>
                <a:latin typeface="微软雅黑" panose="020B0503020204020204" charset="-122"/>
              </a:rPr>
              <a:t>及时跟进问题闭环处理</a:t>
            </a:r>
            <a:endParaRPr sz="1600" b="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长期主义 —— 测试知识库与规范体系建设</a:t>
            </a:r>
            <a:endParaRPr sz="1600" b="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chemeClr val="bg1"/>
                </a:solidFill>
                <a:latin typeface="微软雅黑" panose="020B0503020204020204" charset="-122"/>
              </a:rPr>
              <a:t>（均按START结构展开，见后三页）</a:t>
            </a:r>
            <a:endParaRPr sz="1600" b="0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1384" y="750625"/>
            <a:ext cx="636651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三、五大能力自评呈现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关键绩效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行为）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62509" y="1052250"/>
            <a:ext cx="6480720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关键绩效行为实例1——务实：支付模块生产级缺陷定位与闭环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9250" y="2146935"/>
            <a:ext cx="11064240" cy="296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S 情景：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小超智管收银台支付模块在生产环境出现多种支付方式的异常缺陷，本质是幂等性/并发类问题——“手动点点点”无法复现，定位陷入僵局；支付缺陷直接威胁商户资金安全。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T 行动：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①梳理支付全链路，识别重复提交、并发回调、超时重试等风险点；②独立编写Python测试脚本，运用多线程/多进程/asyncio异步并发模拟真实并发请求，成功复现生产场景；③输出复现步骤与请求/响应证据，推进开发修复并完成回归验证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A 影响：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让“不可复现”缺陷变为“可复现、可定位、可验证”；并发脚本方法为团队沉淀了支付类功能测试的新范式，可复用。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R 结果：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支付相关缺陷全部闭环处理，上线后同类问题未复发，保障生产资金安全。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T 反思：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定位疑难缺陷的关键不是“点得更细”，而是链路级风险分析+技术手段构造场景；幂等/并发用例应前置到设计阶段——已将该方法迁移应用到斯诺克二期支付测试（跨端重复购买拦截等）。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62509" y="1052250"/>
            <a:ext cx="6480720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关键绩效行为实例2——高效：Apifox接口自动化实现灯控/桌台全业务场景覆盖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2305" y="2482215"/>
            <a:ext cx="11064240" cy="247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S 情景：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入职时团队已使用Apifox，但以接口文档管理为主，自动化能力闲置；小超智管灯控、桌台开关业务场景多、链路长，每轮回归纯手工耗时长且易漏（V2.2.0灯控稳定性专项即投入45h）。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T 行动：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①承接接口自动化覆盖任务；②完整梳理灯控与桌台开关业务链路（指令下发、状态流转、异常分支）；③在Apifox内完成工具完善，设计覆盖整个业务场景的自动化用例集并打通执行。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A 影响：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核心链路回归从“全手工”变为“自动化执行+手工探索补充”，回归效率与场景完备性同步提升。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R 结果：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实现灯控+桌台开关全业务场景自动化覆盖。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T 反思：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工具引入≠提效，关键是结合业务做“场景化覆盖设计”；配置方法已沉淀知识库，可向支付、订单等链路横向扩展。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62509" y="1052250"/>
            <a:ext cx="6480720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关键绩效行为实例3——长期主义：测试知识库与规范体系建设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3880" y="2101215"/>
            <a:ext cx="11064240" cy="271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S 情景：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所负责业务的规则细节（视频解锁方式互斥与退款原路返回、推送触发条件差异、数据库区分口径等）散落在个人经验与聊天记录中，每次迭代重复确认、用例易漏项，人员流动导致经验流失。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T 行动：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①设计“业务模块/技术知识/测试规范”三层知识库结构，每模块一份文档；②边写用例边沉淀：业务规则、数据库验证SQL、用例编写硬约束（如“退款用例必须区分解锁方式”）；③制定统一用例规范（列结构/优先级定义/条件格式），跨迭代复用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A 影响：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新迭代用例先读知识库再设计，杜绝重复分析；新人可按文档快速上手，用例编写质量与效率双提升。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R 结果：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知识库已沉淀【</a:t>
            </a:r>
            <a:r>
              <a:rPr lang="en-US" sz="1600">
                <a:solidFill>
                  <a:schemeClr val="bg1"/>
                </a:solidFill>
                <a:latin typeface="微软雅黑" panose="020B0503020204020204" charset="-122"/>
              </a:rPr>
              <a:t>5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】个</a:t>
            </a:r>
            <a:r>
              <a:rPr lang="zh-CN" sz="1600">
                <a:solidFill>
                  <a:schemeClr val="bg1"/>
                </a:solidFill>
                <a:latin typeface="微软雅黑" panose="020B0503020204020204" charset="-122"/>
              </a:rPr>
              <a:t>迭代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、【</a:t>
            </a:r>
            <a:r>
              <a:rPr lang="en-US" sz="1600">
                <a:solidFill>
                  <a:schemeClr val="bg1"/>
                </a:solidFill>
                <a:latin typeface="微软雅黑" panose="020B0503020204020204" charset="-122"/>
              </a:rPr>
              <a:t>20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】条测试规则，在斯诺克二期与小超后续迭代持续复用。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</a:rPr>
              <a:t>T 反思：</a:t>
            </a:r>
            <a:r>
              <a:rPr sz="1600">
                <a:solidFill>
                  <a:schemeClr val="bg1"/>
                </a:solidFill>
                <a:latin typeface="微软雅黑" panose="020B0503020204020204" charset="-122"/>
              </a:rPr>
              <a:t>一次性产出只被使用一次，体系化沉淀才有复利；长期主义是把日常工作做成可积累的资产，后续推动其为测试组公共规范。</a:t>
            </a:r>
            <a:endParaRPr sz="16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4294967295"/>
          </p:nvPr>
        </p:nvSpPr>
        <p:spPr>
          <a:xfrm>
            <a:off x="512445" y="956945"/>
            <a:ext cx="4853940" cy="875030"/>
          </a:xfrm>
          <a:prstGeom prst="rect">
            <a:avLst/>
          </a:prstGeom>
        </p:spPr>
        <p:txBody>
          <a:bodyPr>
            <a:noAutofit/>
          </a:bodyPr>
          <a:p>
            <a:pPr lvl="0"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500" b="1" dirty="0" smtClean="0">
                <a:latin typeface="微软雅黑" panose="020B0503020204020204" charset="-122"/>
                <a:ea typeface="微软雅黑" panose="020B0503020204020204" charset="-122"/>
              </a:rPr>
              <a:t>四、转正</a:t>
            </a:r>
            <a:r>
              <a:rPr lang="zh-CN" altLang="en-US" sz="25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j-cs"/>
                <a:sym typeface="+mn-ea"/>
              </a:rPr>
              <a:t>后工作开展思路</a:t>
            </a:r>
            <a:endParaRPr lang="zh-CN" altLang="en-US" sz="25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ChangeArrowheads="1"/>
          </p:cNvSpPr>
          <p:nvPr/>
        </p:nvSpPr>
        <p:spPr bwMode="auto">
          <a:xfrm>
            <a:off x="870585" y="2087880"/>
            <a:ext cx="7555230" cy="3066415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600"/>
              </a:spcBef>
              <a:spcAft>
                <a:spcPts val="400"/>
              </a:spcAft>
              <a:defRPr/>
            </a:pPr>
            <a:endParaRPr sz="1800" b="0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2445" y="1603375"/>
            <a:ext cx="11421745" cy="3651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chemeClr val="bg1"/>
                </a:solidFill>
              </a:rPr>
              <a:t>1. 核心工作内容、推进方式、工作目标</a:t>
            </a:r>
            <a:endParaRPr lang="zh-CN" altLang="en-US" sz="1600">
              <a:solidFill>
                <a:schemeClr val="bg1"/>
              </a:solidFill>
            </a:endParaRPr>
          </a:p>
          <a:p>
            <a:endParaRPr lang="en-US" altLang="zh-CN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 内容：继续承担斯诺克大师</a:t>
            </a:r>
            <a:r>
              <a:rPr lang="en-US" altLang="zh-CN" sz="1600">
                <a:solidFill>
                  <a:schemeClr val="bg1"/>
                </a:solidFill>
              </a:rPr>
              <a:t>APP</a:t>
            </a:r>
            <a:r>
              <a:rPr lang="zh-CN" altLang="en-US" sz="1600">
                <a:solidFill>
                  <a:schemeClr val="bg1"/>
                </a:solidFill>
              </a:rPr>
              <a:t>、小超智管两条产品线的核心测试工作，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       保障后续版本按期高质量交付。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 方式：全面引入</a:t>
            </a:r>
            <a:r>
              <a:rPr lang="en-US" altLang="zh-CN" sz="1600">
                <a:solidFill>
                  <a:schemeClr val="bg1"/>
                </a:solidFill>
              </a:rPr>
              <a:t>AI</a:t>
            </a:r>
            <a:r>
              <a:rPr lang="zh-CN" altLang="en-US" sz="1600">
                <a:solidFill>
                  <a:schemeClr val="bg1"/>
                </a:solidFill>
              </a:rPr>
              <a:t>辅助测试——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</a:t>
            </a:r>
            <a:r>
              <a:rPr lang="en-US" altLang="zh-CN" sz="1600">
                <a:solidFill>
                  <a:schemeClr val="bg1"/>
                </a:solidFill>
              </a:rPr>
              <a:t>       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· 需求分析</a:t>
            </a:r>
            <a:r>
              <a:rPr lang="en-US" altLang="zh-CN" sz="1600">
                <a:solidFill>
                  <a:schemeClr val="bg1"/>
                </a:solidFill>
                <a:sym typeface="+mn-ea"/>
              </a:rPr>
              <a:t>:   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用 </a:t>
            </a:r>
            <a:r>
              <a:rPr lang="en-US" altLang="zh-CN" sz="1600">
                <a:solidFill>
                  <a:schemeClr val="bg1"/>
                </a:solidFill>
                <a:sym typeface="+mn-ea"/>
              </a:rPr>
              <a:t>AI 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辅助解读 </a:t>
            </a:r>
            <a:r>
              <a:rPr lang="en-US" altLang="zh-CN" sz="1600">
                <a:solidFill>
                  <a:schemeClr val="bg1"/>
                </a:solidFill>
                <a:sym typeface="+mn-ea"/>
              </a:rPr>
              <a:t>PRD，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提炼业务规则与测试点并沉淀入知识库，需求变更时快速定位影响范围。</a:t>
            </a:r>
            <a:endParaRPr lang="zh-CN" altLang="en-US" sz="1600">
              <a:solidFill>
                <a:schemeClr val="bg1"/>
              </a:solidFill>
              <a:sym typeface="+mn-ea"/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       · 用例设计：结合知识库+</a:t>
            </a:r>
            <a:r>
              <a:rPr lang="en-US" altLang="zh-CN" sz="1600">
                <a:solidFill>
                  <a:schemeClr val="bg1"/>
                </a:solidFill>
              </a:rPr>
              <a:t>AI，</a:t>
            </a:r>
            <a:r>
              <a:rPr lang="zh-CN" altLang="en-US" sz="1600">
                <a:solidFill>
                  <a:schemeClr val="bg1"/>
                </a:solidFill>
              </a:rPr>
              <a:t>需求变更时快速产出增量用例，减少重复编写；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       · 缺陷定位：用</a:t>
            </a:r>
            <a:r>
              <a:rPr lang="en-US" altLang="zh-CN" sz="1600">
                <a:solidFill>
                  <a:schemeClr val="bg1"/>
                </a:solidFill>
              </a:rPr>
              <a:t>AI</a:t>
            </a:r>
            <a:r>
              <a:rPr lang="zh-CN" altLang="en-US" sz="1600">
                <a:solidFill>
                  <a:schemeClr val="bg1"/>
                </a:solidFill>
              </a:rPr>
              <a:t>做接口/数据库的大数据量统计分析，快速锁定问题根源；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       · 自动化建设：以"人定场景、</a:t>
            </a:r>
            <a:r>
              <a:rPr lang="en-US" altLang="zh-CN" sz="1600">
                <a:solidFill>
                  <a:schemeClr val="bg1"/>
                </a:solidFill>
              </a:rPr>
              <a:t>AI</a:t>
            </a:r>
            <a:r>
              <a:rPr lang="zh-CN" altLang="en-US" sz="1600">
                <a:solidFill>
                  <a:schemeClr val="bg1"/>
                </a:solidFill>
              </a:rPr>
              <a:t>生成代码"的模式，把</a:t>
            </a:r>
            <a:r>
              <a:rPr lang="en-US" altLang="zh-CN" sz="1600">
                <a:solidFill>
                  <a:schemeClr val="bg1"/>
                </a:solidFill>
              </a:rPr>
              <a:t>Apifox</a:t>
            </a:r>
            <a:r>
              <a:rPr lang="zh-CN" altLang="en-US" sz="1600">
                <a:solidFill>
                  <a:schemeClr val="bg1"/>
                </a:solidFill>
              </a:rPr>
              <a:t>自动化转换为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          Python</a:t>
            </a:r>
            <a:r>
              <a:rPr lang="zh-CN" altLang="en-US" sz="1600">
                <a:solidFill>
                  <a:schemeClr val="bg1"/>
                </a:solidFill>
              </a:rPr>
              <a:t>脚本资产，逐步为核心业务链路建立自动化回归基线。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 目标：半年内核心链路回归自动化落地，用</a:t>
            </a:r>
            <a:r>
              <a:rPr lang="en-US" altLang="zh-CN" sz="1600">
                <a:solidFill>
                  <a:schemeClr val="bg1"/>
                </a:solidFill>
              </a:rPr>
              <a:t>AI+</a:t>
            </a:r>
            <a:r>
              <a:rPr lang="zh-CN" altLang="en-US" sz="1600">
                <a:solidFill>
                  <a:schemeClr val="bg1"/>
                </a:solidFill>
              </a:rPr>
              <a:t>自动化替代重复性手工劳动；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       版本重大缺陷生产逃逸为0；个人交付效率进一步提升并向组内复制推广。</a:t>
            </a:r>
            <a:endParaRPr lang="zh-CN" altLang="en-US" sz="1600">
              <a:solidFill>
                <a:schemeClr val="bg1"/>
              </a:solidFill>
            </a:endParaRPr>
          </a:p>
          <a:p>
            <a:endParaRPr lang="en-US" altLang="zh-CN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 2. 个人成长与职业发展规划</a:t>
            </a:r>
            <a:endParaRPr lang="zh-CN" altLang="en-US" sz="1600">
              <a:solidFill>
                <a:schemeClr val="bg1"/>
              </a:solidFill>
            </a:endParaRPr>
          </a:p>
          <a:p>
            <a:endParaRPr lang="en-US" altLang="zh-CN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 走"</a:t>
            </a:r>
            <a:r>
              <a:rPr lang="en-US" altLang="zh-CN" sz="1600">
                <a:solidFill>
                  <a:schemeClr val="bg1"/>
                </a:solidFill>
              </a:rPr>
              <a:t>AI+</a:t>
            </a:r>
            <a:r>
              <a:rPr lang="zh-CN" altLang="en-US" sz="1600">
                <a:solidFill>
                  <a:schemeClr val="bg1"/>
                </a:solidFill>
              </a:rPr>
              <a:t>测试效能"方向：持续提升用</a:t>
            </a:r>
            <a:r>
              <a:rPr lang="en-US" altLang="zh-CN" sz="1600">
                <a:solidFill>
                  <a:schemeClr val="bg1"/>
                </a:solidFill>
              </a:rPr>
              <a:t>AI</a:t>
            </a:r>
            <a:r>
              <a:rPr lang="zh-CN" altLang="en-US" sz="1600">
                <a:solidFill>
                  <a:schemeClr val="bg1"/>
                </a:solidFill>
              </a:rPr>
              <a:t>解决测试实际问题的能力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 （需求分析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、</a:t>
            </a:r>
            <a:r>
              <a:rPr lang="zh-CN" altLang="en-US" sz="1600">
                <a:solidFill>
                  <a:schemeClr val="bg1"/>
                </a:solidFill>
              </a:rPr>
              <a:t>用例生成、缺陷逃逸率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、</a:t>
            </a:r>
            <a:r>
              <a:rPr lang="zh-CN" altLang="en-US" sz="1600">
                <a:solidFill>
                  <a:schemeClr val="bg1"/>
                </a:solidFill>
              </a:rPr>
              <a:t>数据分析、脚本工程化），从"完成测试任务"成长为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 "能用新技术给团队带来效率提升"的测试骨干。</a:t>
            </a:r>
            <a:endParaRPr lang="zh-CN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35" y="2717165"/>
            <a:ext cx="12190730" cy="1309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6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谢谢！</a:t>
            </a:r>
            <a:endParaRPr lang="zh-CN" altLang="en-US" sz="6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0" name="直接连接符 99"/>
          <p:cNvCxnSpPr/>
          <p:nvPr/>
        </p:nvCxnSpPr>
        <p:spPr>
          <a:xfrm>
            <a:off x="1888022" y="4026457"/>
            <a:ext cx="841596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2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3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4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5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6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7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8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9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0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1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2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3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4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5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6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7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8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9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20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21.xml><?xml version="1.0" encoding="utf-8"?>
<p:tagLst xmlns:p="http://schemas.openxmlformats.org/presentationml/2006/main">
  <p:tag name="TABLE_ENDDRAG_ORIGIN_RECT" val="408*309"/>
  <p:tag name="TABLE_ENDDRAG_RECT" val="43*111*408*309"/>
</p:tagLst>
</file>

<file path=ppt/tags/tag22.xml><?xml version="1.0" encoding="utf-8"?>
<p:tagLst xmlns:p="http://schemas.openxmlformats.org/presentationml/2006/main">
  <p:tag name="resource_record_key" val="{&quot;13&quot;:[4722044,20419712],&quot;29&quot;:[50000054,50000099,50000142,50052716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2980</Words>
  <Application>WPS 演示</Application>
  <PresentationFormat>宽屏</PresentationFormat>
  <Paragraphs>141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Times New Roman</vt:lpstr>
      <vt:lpstr>Arial Unicode MS</vt:lpstr>
      <vt:lpstr>Calibri</vt:lpstr>
      <vt:lpstr>WPS</vt:lpstr>
      <vt:lpstr>述职报告                                ——转正评定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WPS_1178372946</cp:lastModifiedBy>
  <cp:revision>28</cp:revision>
  <dcterms:created xsi:type="dcterms:W3CDTF">2023-08-09T12:44:00Z</dcterms:created>
  <dcterms:modified xsi:type="dcterms:W3CDTF">2026-10-13T04:08:52Z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F177CE46054145338632598A1832BFC7_13</vt:lpwstr>
  </property>
  <property fmtid="{D5CDD505-2E9C-101B-9397-08002B2CF9AE}" pid="3" name="KSOProductBuildVer">
    <vt:lpwstr>2052-12.1.0.28505</vt:lpwstr>
  </property>
</Properties>
</file>